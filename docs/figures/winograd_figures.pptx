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9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39" y="795911"/>
            <a:ext cx="11551615" cy="52661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82365" y="880849"/>
            <a:ext cx="2989829" cy="288790"/>
          </a:xfrm>
          <a:prstGeom prst="rect">
            <a:avLst/>
          </a:prstGeom>
          <a:solidFill>
            <a:srgbClr val="FFFFFF"/>
          </a:solidFill>
          <a:ln w="10192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00489" y="961116"/>
            <a:ext cx="1953581" cy="14949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35">
                <a:solidFill>
                  <a:srgbClr val="1A1A1A"/>
                </a:solidFill>
                <a:latin typeface="Arial"/>
              </a:rPr>
              <a:t>Weight / parameter interface (external)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6904" y="1271565"/>
            <a:ext cx="11177886" cy="4348843"/>
          </a:xfrm>
          <a:prstGeom prst="rect">
            <a:avLst/>
          </a:prstGeom>
          <a:noFill/>
          <a:ln w="13590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1842" y="1304904"/>
            <a:ext cx="1953581" cy="15628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769" b="1">
                <a:solidFill>
                  <a:srgbClr val="1A1A1A"/>
                </a:solidFill>
                <a:latin typeface="Arial"/>
              </a:rPr>
              <a:t>Winograd CNN Accelerator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805" y="1543368"/>
            <a:ext cx="1274075" cy="424691"/>
          </a:xfrm>
          <a:prstGeom prst="rect">
            <a:avLst/>
          </a:prstGeom>
          <a:solidFill>
            <a:srgbClr val="FFFFFF"/>
          </a:solidFill>
          <a:ln w="10192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3052" y="1619600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02">
                <a:solidFill>
                  <a:srgbClr val="1A1A1A"/>
                </a:solidFill>
                <a:latin typeface="Arial"/>
              </a:rPr>
              <a:t>Layer FSM 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052" y="1738514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02">
                <a:solidFill>
                  <a:srgbClr val="1A1A1A"/>
                </a:solidFill>
                <a:latin typeface="Arial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831" y="2079117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568" i="1">
                <a:solidFill>
                  <a:srgbClr val="8A8A8A"/>
                </a:solidFill>
                <a:latin typeface="Arial"/>
              </a:rPr>
              <a:t>control / ready–valid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2165" y="2273838"/>
            <a:ext cx="6200499" cy="1359013"/>
          </a:xfrm>
          <a:prstGeom prst="rect">
            <a:avLst/>
          </a:prstGeom>
          <a:noFill/>
          <a:ln w="11041">
            <a:solidFill>
              <a:srgbClr val="4A6A8A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0116" y="2307601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702" b="1">
                <a:solidFill>
                  <a:srgbClr val="3B5F80"/>
                </a:solidFill>
                <a:latin typeface="Arial"/>
              </a:rPr>
              <a:t>Operation-fused Winograd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855" y="2805127"/>
            <a:ext cx="1953581" cy="12231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601">
                <a:solidFill>
                  <a:srgbClr val="1A1A1A"/>
                </a:solidFill>
                <a:latin typeface="Arial"/>
              </a:rPr>
              <a:t>pixel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855" y="2911513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568">
                <a:solidFill>
                  <a:srgbClr val="666666"/>
                </a:solidFill>
                <a:latin typeface="Arial"/>
              </a:rPr>
              <a:t>UINT8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4855" y="3089246"/>
            <a:ext cx="271802" cy="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846657" y="2460702"/>
            <a:ext cx="1545877" cy="1087210"/>
          </a:xfrm>
          <a:prstGeom prst="rect">
            <a:avLst/>
          </a:prstGeom>
          <a:solidFill>
            <a:srgbClr val="EEF1F4"/>
          </a:solidFill>
          <a:ln w="10192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05" y="2502959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02">
                <a:solidFill>
                  <a:srgbClr val="1A1A1A"/>
                </a:solidFill>
                <a:latin typeface="Arial"/>
              </a:rPr>
              <a:t>Sliding-window generator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583" y="2715517"/>
            <a:ext cx="934321" cy="101926"/>
          </a:xfrm>
          <a:prstGeom prst="rect">
            <a:avLst/>
          </a:prstGeom>
          <a:solidFill>
            <a:srgbClr val="DCDFE3"/>
          </a:solidFill>
          <a:ln w="6795">
            <a:solidFill>
              <a:srgbClr val="8A8A8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8583" y="2851419"/>
            <a:ext cx="934321" cy="101926"/>
          </a:xfrm>
          <a:prstGeom prst="rect">
            <a:avLst/>
          </a:prstGeom>
          <a:solidFill>
            <a:srgbClr val="DCDFE3"/>
          </a:solidFill>
          <a:ln w="6795">
            <a:solidFill>
              <a:srgbClr val="8A8A8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8583" y="2987320"/>
            <a:ext cx="934321" cy="101926"/>
          </a:xfrm>
          <a:prstGeom prst="rect">
            <a:avLst/>
          </a:prstGeom>
          <a:solidFill>
            <a:srgbClr val="DCDFE3"/>
          </a:solidFill>
          <a:ln w="6795">
            <a:solidFill>
              <a:srgbClr val="8A8A8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67497" y="2715517"/>
            <a:ext cx="0" cy="373729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1186411" y="2715517"/>
            <a:ext cx="0" cy="373729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1305324" y="2715517"/>
            <a:ext cx="0" cy="373729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424238" y="2715517"/>
            <a:ext cx="0" cy="373729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543152" y="2715517"/>
            <a:ext cx="0" cy="373729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662065" y="2715517"/>
            <a:ext cx="0" cy="373729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763991" y="2715517"/>
            <a:ext cx="0" cy="373729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438953" y="3153799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666666"/>
                </a:solidFill>
                <a:latin typeface="Arial"/>
              </a:rPr>
              <a:t>line buffer ×3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831" y="2715517"/>
            <a:ext cx="339753" cy="339753"/>
          </a:xfrm>
          <a:prstGeom prst="rect">
            <a:avLst/>
          </a:prstGeom>
          <a:solidFill>
            <a:srgbClr val="DCDFE3"/>
          </a:solidFill>
          <a:ln w="6795">
            <a:solidFill>
              <a:srgbClr val="8A8A8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2069769" y="2715517"/>
            <a:ext cx="0" cy="339754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154708" y="2715517"/>
            <a:ext cx="0" cy="339754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2239646" y="2715517"/>
            <a:ext cx="0" cy="339754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984831" y="2800456"/>
            <a:ext cx="339753" cy="0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984831" y="2885394"/>
            <a:ext cx="339753" cy="0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984831" y="2970332"/>
            <a:ext cx="339753" cy="0"/>
          </a:xfrm>
          <a:prstGeom prst="line">
            <a:avLst/>
          </a:prstGeom>
          <a:ln w="5096">
            <a:solidFill>
              <a:srgbClr val="B7BCC2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1177917" y="3153799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666666"/>
                </a:solidFill>
                <a:latin typeface="Arial"/>
              </a:rPr>
              <a:t>4×4 window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82905" y="2902382"/>
            <a:ext cx="101926" cy="0"/>
          </a:xfrm>
          <a:prstGeom prst="line">
            <a:avLst/>
          </a:prstGeom>
          <a:ln w="11891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2511449" y="2817443"/>
            <a:ext cx="288790" cy="152889"/>
          </a:xfrm>
          <a:prstGeom prst="rect">
            <a:avLst/>
          </a:prstGeom>
          <a:solidFill>
            <a:srgbClr val="E8E8EA"/>
          </a:solidFill>
          <a:ln w="8493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11449" y="2970332"/>
            <a:ext cx="288790" cy="152889"/>
          </a:xfrm>
          <a:prstGeom prst="rect">
            <a:avLst/>
          </a:prstGeom>
          <a:solidFill>
            <a:srgbClr val="E8E8EA"/>
          </a:solidFill>
          <a:ln w="8493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79053" y="3132352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68">
                <a:solidFill>
                  <a:srgbClr val="1A1A1A"/>
                </a:solidFill>
                <a:latin typeface="Arial"/>
              </a:rPr>
              <a:t>Tile FIFO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79053" y="3230244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666666"/>
                </a:solidFill>
                <a:latin typeface="Arial"/>
              </a:rPr>
              <a:t>D=2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04091" y="2494678"/>
            <a:ext cx="1019260" cy="1019260"/>
          </a:xfrm>
          <a:prstGeom prst="rect">
            <a:avLst/>
          </a:prstGeom>
          <a:solidFill>
            <a:srgbClr val="DFE8F2"/>
          </a:solidFill>
          <a:ln w="10192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36930" y="2536935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02">
                <a:solidFill>
                  <a:srgbClr val="1A1A1A"/>
                </a:solidFill>
                <a:latin typeface="Arial"/>
              </a:rPr>
              <a:t>Input transform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23005" y="2817443"/>
            <a:ext cx="781433" cy="0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3123005" y="2987320"/>
            <a:ext cx="781433" cy="0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3123005" y="3157197"/>
            <a:ext cx="781433" cy="0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3123005" y="3327073"/>
            <a:ext cx="781433" cy="0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3123005" y="2817443"/>
            <a:ext cx="781433" cy="339754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3123005" y="2817443"/>
            <a:ext cx="781433" cy="339754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3123005" y="2987320"/>
            <a:ext cx="781433" cy="339753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3123005" y="2987320"/>
            <a:ext cx="781433" cy="339753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sp>
        <p:nvSpPr>
          <p:cNvPr id="52" name="Oval 51"/>
          <p:cNvSpPr/>
          <p:nvPr/>
        </p:nvSpPr>
        <p:spPr>
          <a:xfrm>
            <a:off x="3102620" y="2797058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102620" y="2966935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102620" y="3136812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102620" y="3306688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884053" y="2797058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884053" y="2966935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884053" y="3136812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3884053" y="3306688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536930" y="3383133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3B5F80"/>
                </a:solidFill>
                <a:latin typeface="Arial"/>
              </a:rPr>
              <a:t>add / sub butterfly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65" y="2817443"/>
            <a:ext cx="288790" cy="152889"/>
          </a:xfrm>
          <a:prstGeom prst="rect">
            <a:avLst/>
          </a:prstGeom>
          <a:solidFill>
            <a:srgbClr val="E8E8EA"/>
          </a:solidFill>
          <a:ln w="8493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142265" y="2970332"/>
            <a:ext cx="288790" cy="152889"/>
          </a:xfrm>
          <a:prstGeom prst="rect">
            <a:avLst/>
          </a:prstGeom>
          <a:solidFill>
            <a:srgbClr val="E8E8EA"/>
          </a:solidFill>
          <a:ln w="8493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309869" y="3132352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68">
                <a:solidFill>
                  <a:srgbClr val="1A1A1A"/>
                </a:solidFill>
                <a:latin typeface="Arial"/>
              </a:rPr>
              <a:t>V-replay FIFO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9869" y="3230244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666666"/>
                </a:solidFill>
                <a:latin typeface="Arial"/>
              </a:rPr>
              <a:t>D=2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6957" y="2460702"/>
            <a:ext cx="1494914" cy="1087210"/>
          </a:xfrm>
          <a:prstGeom prst="rect">
            <a:avLst/>
          </a:prstGeom>
          <a:solidFill>
            <a:srgbClr val="DFE8F2"/>
          </a:solidFill>
          <a:ln w="11041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337623" y="2502959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02">
                <a:solidFill>
                  <a:srgbClr val="1A1A1A"/>
                </a:solidFill>
                <a:latin typeface="Arial"/>
              </a:rPr>
              <a:t>16-lane MAC / reduction array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68883" y="2681542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844981" y="2729108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91649" y="2681542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167747" y="2729108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14414" y="2681542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490512" y="2729108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37180" y="2681542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13278" y="2729108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8883" y="2868406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844981" y="2915972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91649" y="2868406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167747" y="2915972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14414" y="2868406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90512" y="2915972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37180" y="2868406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813278" y="2915972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8883" y="3055271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44981" y="3102836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91649" y="3055271"/>
            <a:ext cx="305778" cy="169876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167747" y="3102836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314414" y="3055271"/>
            <a:ext cx="305778" cy="169876"/>
          </a:xfrm>
          <a:prstGeom prst="rect">
            <a:avLst/>
          </a:prstGeom>
          <a:solidFill>
            <a:srgbClr val="EEF1F4"/>
          </a:solidFill>
          <a:ln w="6795">
            <a:solidFill>
              <a:srgbClr val="8AA0B4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490512" y="3102836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8A97A4"/>
                </a:solidFill>
                <a:latin typeface="Arial"/>
              </a:rPr>
              <a:t>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37180" y="3055271"/>
            <a:ext cx="305778" cy="169876"/>
          </a:xfrm>
          <a:prstGeom prst="rect">
            <a:avLst/>
          </a:prstGeom>
          <a:solidFill>
            <a:srgbClr val="EEF1F4"/>
          </a:solidFill>
          <a:ln w="6795">
            <a:solidFill>
              <a:srgbClr val="8AA0B4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813278" y="3102836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8A97A4"/>
                </a:solidFill>
                <a:latin typeface="Arial"/>
              </a:rPr>
              <a:t>11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68883" y="3242135"/>
            <a:ext cx="305778" cy="169876"/>
          </a:xfrm>
          <a:prstGeom prst="rect">
            <a:avLst/>
          </a:prstGeom>
          <a:solidFill>
            <a:srgbClr val="EEF1F4"/>
          </a:solidFill>
          <a:ln w="6795">
            <a:solidFill>
              <a:srgbClr val="8AA0B4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844981" y="3289701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8A97A4"/>
                </a:solidFill>
                <a:latin typeface="Arial"/>
              </a:rPr>
              <a:t>12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91649" y="3242135"/>
            <a:ext cx="305778" cy="169876"/>
          </a:xfrm>
          <a:prstGeom prst="rect">
            <a:avLst/>
          </a:prstGeom>
          <a:solidFill>
            <a:srgbClr val="EEF1F4"/>
          </a:solidFill>
          <a:ln w="6795">
            <a:solidFill>
              <a:srgbClr val="8AA0B4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167747" y="3289701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8A97A4"/>
                </a:solidFill>
                <a:latin typeface="Arial"/>
              </a:rPr>
              <a:t>13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14414" y="3242135"/>
            <a:ext cx="305778" cy="169876"/>
          </a:xfrm>
          <a:prstGeom prst="rect">
            <a:avLst/>
          </a:prstGeom>
          <a:solidFill>
            <a:srgbClr val="EEF1F4"/>
          </a:solidFill>
          <a:ln w="6795">
            <a:solidFill>
              <a:srgbClr val="8AA0B4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490512" y="3289701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8A97A4"/>
                </a:solidFill>
                <a:latin typeface="Arial"/>
              </a:rPr>
              <a:t>14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37180" y="3242135"/>
            <a:ext cx="305778" cy="169876"/>
          </a:xfrm>
          <a:prstGeom prst="rect">
            <a:avLst/>
          </a:prstGeom>
          <a:solidFill>
            <a:srgbClr val="EEF1F4"/>
          </a:solidFill>
          <a:ln w="6795">
            <a:solidFill>
              <a:srgbClr val="8AA0B4"/>
            </a:solidFill>
            <a:prstDash val="dash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813278" y="3289701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8A97A4"/>
                </a:solidFill>
                <a:latin typeface="Arial"/>
              </a:rPr>
              <a:t>15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37623" y="3442590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3B5F80"/>
                </a:solidFill>
                <a:latin typeface="Arial"/>
              </a:rPr>
              <a:t>Conv: lane 0–15 · FC: lane 0–9 active, 10–15 gated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80785" y="2893888"/>
            <a:ext cx="288790" cy="152889"/>
          </a:xfrm>
          <a:prstGeom prst="rect">
            <a:avLst/>
          </a:prstGeom>
          <a:solidFill>
            <a:srgbClr val="E8E8EA"/>
          </a:solidFill>
          <a:ln w="8493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348390" y="3132352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68">
                <a:solidFill>
                  <a:srgbClr val="1A1A1A"/>
                </a:solidFill>
                <a:latin typeface="Arial"/>
              </a:rPr>
              <a:t>M FIFO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48390" y="3230244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666666"/>
                </a:solidFill>
                <a:latin typeface="Arial"/>
              </a:rPr>
              <a:t>D=1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8490" y="2494678"/>
            <a:ext cx="1019260" cy="1019260"/>
          </a:xfrm>
          <a:prstGeom prst="rect">
            <a:avLst/>
          </a:prstGeom>
          <a:solidFill>
            <a:srgbClr val="DFE8F2"/>
          </a:solidFill>
          <a:ln w="10192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121329" y="2536935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02">
                <a:solidFill>
                  <a:srgbClr val="1A1A1A"/>
                </a:solidFill>
                <a:latin typeface="Arial"/>
              </a:rPr>
              <a:t>Output transform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707403" y="2817443"/>
            <a:ext cx="781433" cy="0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>
            <a:off x="6707403" y="2987320"/>
            <a:ext cx="781433" cy="0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6707403" y="3157197"/>
            <a:ext cx="781433" cy="0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>
            <a:off x="6707403" y="3327073"/>
            <a:ext cx="781433" cy="0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6707403" y="2817443"/>
            <a:ext cx="781433" cy="339754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6707403" y="2817443"/>
            <a:ext cx="781433" cy="339754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6707403" y="2987320"/>
            <a:ext cx="781433" cy="339753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6707403" y="2987320"/>
            <a:ext cx="781433" cy="339753"/>
          </a:xfrm>
          <a:prstGeom prst="line">
            <a:avLst/>
          </a:prstGeom>
          <a:ln w="8493">
            <a:solidFill>
              <a:srgbClr val="3B5F80"/>
            </a:solidFill>
          </a:ln>
          <a:effectLst/>
        </p:spPr>
      </p:cxnSp>
      <p:sp>
        <p:nvSpPr>
          <p:cNvPr id="113" name="Oval 112"/>
          <p:cNvSpPr/>
          <p:nvPr/>
        </p:nvSpPr>
        <p:spPr>
          <a:xfrm>
            <a:off x="6687018" y="2797058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687018" y="2966935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6687018" y="3136812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6687018" y="3306688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7468451" y="2797058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7468451" y="2966935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7468451" y="3136812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7468451" y="3306688"/>
            <a:ext cx="40770" cy="40770"/>
          </a:xfrm>
          <a:prstGeom prst="ellipse">
            <a:avLst/>
          </a:prstGeom>
          <a:solidFill>
            <a:srgbClr val="3B5F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121329" y="3383133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3B5F80"/>
                </a:solidFill>
                <a:latin typeface="Arial"/>
              </a:rPr>
              <a:t>add / sub butterfly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726663" y="2494678"/>
            <a:ext cx="1274075" cy="1019260"/>
          </a:xfrm>
          <a:prstGeom prst="rect">
            <a:avLst/>
          </a:prstGeom>
          <a:solidFill>
            <a:srgbClr val="DFE8F2"/>
          </a:solidFill>
          <a:ln w="10192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386910" y="2536935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02">
                <a:solidFill>
                  <a:srgbClr val="1A1A1A"/>
                </a:solidFill>
                <a:latin typeface="Arial"/>
              </a:rPr>
              <a:t>Fused postprocess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828589" y="2817443"/>
            <a:ext cx="1070223" cy="135901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7828589" y="2987320"/>
            <a:ext cx="1070223" cy="135901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7828589" y="3157197"/>
            <a:ext cx="1070223" cy="135901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828589" y="3327073"/>
            <a:ext cx="1070223" cy="135901"/>
          </a:xfrm>
          <a:prstGeom prst="rect">
            <a:avLst/>
          </a:prstGeom>
          <a:solidFill>
            <a:srgbClr val="C7D7E8"/>
          </a:solidFill>
          <a:ln w="6795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386910" y="2848021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bias add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86910" y="3017898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ReLU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86910" y="3187775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max-pool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386910" y="3357651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1A3350"/>
                </a:solidFill>
                <a:latin typeface="Arial"/>
              </a:rPr>
              <a:t>requant → UINT8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2392535" y="2902382"/>
            <a:ext cx="118914" cy="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2800239" y="2902382"/>
            <a:ext cx="203852" cy="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4023351" y="2902382"/>
            <a:ext cx="118914" cy="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4431055" y="2902382"/>
            <a:ext cx="135902" cy="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6061872" y="2936357"/>
            <a:ext cx="118913" cy="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cxnSp>
        <p:nvCxnSpPr>
          <p:cNvPr id="137" name="Connector 136"/>
          <p:cNvCxnSpPr/>
          <p:nvPr/>
        </p:nvCxnSpPr>
        <p:spPr>
          <a:xfrm flipV="1">
            <a:off x="6469576" y="2902382"/>
            <a:ext cx="118914" cy="33975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7607750" y="2902382"/>
            <a:ext cx="118913" cy="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39" name="TextBox 138"/>
          <p:cNvSpPr txBox="1"/>
          <p:nvPr/>
        </p:nvSpPr>
        <p:spPr>
          <a:xfrm>
            <a:off x="5153031" y="2775611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68">
                <a:solidFill>
                  <a:srgbClr val="3B5F80"/>
                </a:solidFill>
                <a:latin typeface="Arial"/>
              </a:rPr>
              <a:t>INT18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902165" y="4006580"/>
            <a:ext cx="6115560" cy="815408"/>
          </a:xfrm>
          <a:prstGeom prst="rect">
            <a:avLst/>
          </a:prstGeom>
          <a:solidFill>
            <a:srgbClr val="EEF1F4"/>
          </a:solidFill>
          <a:ln w="11041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2987104" y="4048837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702" b="1">
                <a:solidFill>
                  <a:srgbClr val="1A1A1A"/>
                </a:solidFill>
                <a:latin typeface="Arial"/>
              </a:rPr>
              <a:t>Activation scratchpad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76240" y="4062215"/>
            <a:ext cx="1953581" cy="12231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601">
                <a:solidFill>
                  <a:srgbClr val="666666"/>
                </a:solidFill>
                <a:latin typeface="Arial"/>
              </a:rPr>
              <a:t>104 × 24-bit FF register array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23005" y="4227420"/>
            <a:ext cx="5741832" cy="509630"/>
          </a:xfrm>
          <a:prstGeom prst="rect">
            <a:avLst/>
          </a:prstGeom>
          <a:solidFill>
            <a:srgbClr val="DCDFE3"/>
          </a:solidFill>
          <a:ln w="4246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4" name="Connector 143"/>
          <p:cNvCxnSpPr/>
          <p:nvPr/>
        </p:nvCxnSpPr>
        <p:spPr>
          <a:xfrm>
            <a:off x="3123005" y="4397297"/>
            <a:ext cx="5741832" cy="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3123005" y="4567173"/>
            <a:ext cx="5741832" cy="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3343845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3564684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3785524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006364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4227203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4448043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4668883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4889723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5110562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331402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5552242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5773081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5993921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6214761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6435600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6656440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>
            <a:off x="6877280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7098120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>
            <a:off x="7318959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7539799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7760639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7981478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8202318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8423158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8643998" y="4227420"/>
            <a:ext cx="0" cy="509630"/>
          </a:xfrm>
          <a:prstGeom prst="line">
            <a:avLst/>
          </a:prstGeom>
          <a:ln w="4246">
            <a:solidFill>
              <a:srgbClr val="B7BCC2"/>
            </a:solidFill>
          </a:ln>
          <a:effectLst/>
        </p:spPr>
      </p:cxnSp>
      <p:sp>
        <p:nvSpPr>
          <p:cNvPr id="171" name="TextBox 170"/>
          <p:cNvSpPr txBox="1"/>
          <p:nvPr/>
        </p:nvSpPr>
        <p:spPr>
          <a:xfrm>
            <a:off x="3233425" y="4806062"/>
            <a:ext cx="1953581" cy="10192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501">
                <a:solidFill>
                  <a:srgbClr val="888888"/>
                </a:solidFill>
                <a:latin typeface="Arial"/>
              </a:rPr>
              <a:t>addr 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911255" y="4806062"/>
            <a:ext cx="1953581" cy="10192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501">
                <a:solidFill>
                  <a:srgbClr val="888888"/>
                </a:solidFill>
                <a:latin typeface="Arial"/>
              </a:rPr>
              <a:t>addr 103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833134" y="4125494"/>
            <a:ext cx="1494914" cy="509630"/>
          </a:xfrm>
          <a:prstGeom prst="rect">
            <a:avLst/>
          </a:prstGeom>
          <a:solidFill>
            <a:srgbClr val="DFE8F2"/>
          </a:solidFill>
          <a:ln w="10192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9603801" y="4252689"/>
            <a:ext cx="1953581" cy="14269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02">
                <a:solidFill>
                  <a:srgbClr val="1A1A1A"/>
                </a:solidFill>
                <a:latin typeface="Arial"/>
              </a:rPr>
              <a:t>Pipelined Argmax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603801" y="4393899"/>
            <a:ext cx="1953581" cy="1087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35">
                <a:solidFill>
                  <a:srgbClr val="3B5F80"/>
                </a:solidFill>
                <a:latin typeface="Arial"/>
              </a:rPr>
              <a:t>10-class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8363701" y="3513938"/>
            <a:ext cx="0" cy="492642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77" name="TextBox 176"/>
          <p:cNvSpPr txBox="1"/>
          <p:nvPr/>
        </p:nvSpPr>
        <p:spPr>
          <a:xfrm>
            <a:off x="8414664" y="3709933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568">
                <a:solidFill>
                  <a:srgbClr val="1A1A1A"/>
                </a:solidFill>
                <a:latin typeface="Arial"/>
              </a:rPr>
              <a:t>store</a:t>
            </a:r>
          </a:p>
        </p:txBody>
      </p:sp>
      <p:cxnSp>
        <p:nvCxnSpPr>
          <p:cNvPr id="178" name="Connector 177"/>
          <p:cNvCxnSpPr/>
          <p:nvPr/>
        </p:nvCxnSpPr>
        <p:spPr>
          <a:xfrm flipV="1">
            <a:off x="3377820" y="3768753"/>
            <a:ext cx="0" cy="237827"/>
          </a:xfrm>
          <a:prstGeom prst="line">
            <a:avLst/>
          </a:prstGeom>
          <a:ln w="18686">
            <a:solidFill>
              <a:srgbClr val="1A1A1A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H="1">
            <a:off x="1611102" y="3768753"/>
            <a:ext cx="1766718" cy="0"/>
          </a:xfrm>
          <a:prstGeom prst="line">
            <a:avLst/>
          </a:prstGeom>
          <a:ln w="18686">
            <a:solidFill>
              <a:srgbClr val="1A1A1A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1611102" y="3547913"/>
            <a:ext cx="0" cy="22084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81" name="TextBox 180"/>
          <p:cNvSpPr txBox="1"/>
          <p:nvPr/>
        </p:nvSpPr>
        <p:spPr>
          <a:xfrm>
            <a:off x="2443498" y="3650476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568">
                <a:solidFill>
                  <a:srgbClr val="1A1A1A"/>
                </a:solidFill>
                <a:latin typeface="Arial"/>
              </a:rPr>
              <a:t>read (Conv2)</a:t>
            </a:r>
          </a:p>
        </p:txBody>
      </p:sp>
      <p:cxnSp>
        <p:nvCxnSpPr>
          <p:cNvPr id="182" name="Connector 181"/>
          <p:cNvCxnSpPr/>
          <p:nvPr/>
        </p:nvCxnSpPr>
        <p:spPr>
          <a:xfrm flipV="1">
            <a:off x="5076587" y="3547913"/>
            <a:ext cx="0" cy="458667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83" name="TextBox 182"/>
          <p:cNvSpPr txBox="1"/>
          <p:nvPr/>
        </p:nvSpPr>
        <p:spPr>
          <a:xfrm>
            <a:off x="5127550" y="3709933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568">
                <a:solidFill>
                  <a:srgbClr val="1A1A1A"/>
                </a:solidFill>
                <a:latin typeface="Arial"/>
              </a:rPr>
              <a:t>FC mode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5688143" y="3547913"/>
            <a:ext cx="0" cy="288791"/>
          </a:xfrm>
          <a:prstGeom prst="line">
            <a:avLst/>
          </a:prstGeom>
          <a:ln w="18686">
            <a:solidFill>
              <a:srgbClr val="1A1A1A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5688143" y="3836704"/>
            <a:ext cx="4892449" cy="0"/>
          </a:xfrm>
          <a:prstGeom prst="line">
            <a:avLst/>
          </a:prstGeom>
          <a:ln w="18686">
            <a:solidFill>
              <a:srgbClr val="1A1A1A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>
            <a:off x="10580592" y="3836704"/>
            <a:ext cx="0" cy="28879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87" name="TextBox 186"/>
          <p:cNvSpPr txBox="1"/>
          <p:nvPr/>
        </p:nvSpPr>
        <p:spPr>
          <a:xfrm>
            <a:off x="7157576" y="3709933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568">
                <a:solidFill>
                  <a:srgbClr val="1A1A1A"/>
                </a:solidFill>
                <a:latin typeface="Arial"/>
              </a:rPr>
              <a:t>FC result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1328049" y="4380309"/>
            <a:ext cx="407704" cy="0"/>
          </a:xfrm>
          <a:prstGeom prst="line">
            <a:avLst/>
          </a:prstGeom>
          <a:ln w="18686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89" name="TextBox 188"/>
          <p:cNvSpPr txBox="1"/>
          <p:nvPr/>
        </p:nvSpPr>
        <p:spPr>
          <a:xfrm>
            <a:off x="11362025" y="4236551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568">
                <a:solidFill>
                  <a:srgbClr val="1A1A1A"/>
                </a:solidFill>
                <a:latin typeface="Arial"/>
              </a:rPr>
              <a:t>decision · 4b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5925970" y="1169639"/>
            <a:ext cx="0" cy="1291063"/>
          </a:xfrm>
          <a:prstGeom prst="line">
            <a:avLst/>
          </a:prstGeom>
          <a:ln w="15288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91" name="TextBox 190"/>
          <p:cNvSpPr txBox="1"/>
          <p:nvPr/>
        </p:nvSpPr>
        <p:spPr>
          <a:xfrm>
            <a:off x="5976933" y="1739363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568">
                <a:solidFill>
                  <a:srgbClr val="1A1A1A"/>
                </a:solidFill>
                <a:latin typeface="Arial"/>
              </a:rPr>
              <a:t>U / FC weight · INT4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7964491" y="1169639"/>
            <a:ext cx="0" cy="1325039"/>
          </a:xfrm>
          <a:prstGeom prst="line">
            <a:avLst/>
          </a:prstGeom>
          <a:ln w="15288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93" name="TextBox 192"/>
          <p:cNvSpPr txBox="1"/>
          <p:nvPr/>
        </p:nvSpPr>
        <p:spPr>
          <a:xfrm>
            <a:off x="8015454" y="1739363"/>
            <a:ext cx="1953581" cy="11551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568">
                <a:solidFill>
                  <a:srgbClr val="1A1A1A"/>
                </a:solidFill>
                <a:latin typeface="Arial"/>
              </a:rPr>
              <a:t>bias / requant param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1279843" y="1968060"/>
            <a:ext cx="0" cy="254815"/>
          </a:xfrm>
          <a:prstGeom prst="line">
            <a:avLst/>
          </a:prstGeom>
          <a:ln w="8493">
            <a:solidFill>
              <a:srgbClr val="8A8A8A"/>
            </a:solidFill>
            <a:prstDash val="dash"/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1279843" y="2222875"/>
            <a:ext cx="9657490" cy="0"/>
          </a:xfrm>
          <a:prstGeom prst="line">
            <a:avLst/>
          </a:prstGeom>
          <a:ln w="8493">
            <a:solidFill>
              <a:srgbClr val="8A8A8A"/>
            </a:solidFill>
            <a:prstDash val="dash"/>
          </a:ln>
          <a:effectLst/>
        </p:spPr>
      </p:cxnSp>
      <p:cxnSp>
        <p:nvCxnSpPr>
          <p:cNvPr id="196" name="Connector 195"/>
          <p:cNvCxnSpPr/>
          <p:nvPr/>
        </p:nvCxnSpPr>
        <p:spPr>
          <a:xfrm>
            <a:off x="1619596" y="2222875"/>
            <a:ext cx="0" cy="237827"/>
          </a:xfrm>
          <a:prstGeom prst="line">
            <a:avLst/>
          </a:prstGeom>
          <a:ln w="8493">
            <a:solidFill>
              <a:srgbClr val="8A8A8A"/>
            </a:solidFill>
            <a:prstDash val="dash"/>
            <a:tailEnd type="triangle" w="med" len="med"/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3513721" y="2222875"/>
            <a:ext cx="0" cy="271803"/>
          </a:xfrm>
          <a:prstGeom prst="line">
            <a:avLst/>
          </a:prstGeom>
          <a:ln w="8493">
            <a:solidFill>
              <a:srgbClr val="8A8A8A"/>
            </a:solidFill>
            <a:prstDash val="dash"/>
            <a:tailEnd type="triangle" w="med" len="med"/>
          </a:ln>
          <a:effectLst/>
        </p:spPr>
      </p:cxnSp>
      <p:cxnSp>
        <p:nvCxnSpPr>
          <p:cNvPr id="198" name="Connector 197"/>
          <p:cNvCxnSpPr/>
          <p:nvPr/>
        </p:nvCxnSpPr>
        <p:spPr>
          <a:xfrm>
            <a:off x="5314414" y="2222875"/>
            <a:ext cx="0" cy="237827"/>
          </a:xfrm>
          <a:prstGeom prst="line">
            <a:avLst/>
          </a:prstGeom>
          <a:ln w="8493">
            <a:solidFill>
              <a:srgbClr val="8A8A8A"/>
            </a:solidFill>
            <a:prstDash val="dash"/>
            <a:tailEnd type="triangle" w="med" len="med"/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7098120" y="2222875"/>
            <a:ext cx="0" cy="271803"/>
          </a:xfrm>
          <a:prstGeom prst="line">
            <a:avLst/>
          </a:prstGeom>
          <a:ln w="8493">
            <a:solidFill>
              <a:srgbClr val="8A8A8A"/>
            </a:solidFill>
            <a:prstDash val="dash"/>
            <a:tailEnd type="triangle" w="med" len="med"/>
          </a:ln>
          <a:effectLst/>
        </p:spPr>
      </p:cxnSp>
      <p:cxnSp>
        <p:nvCxnSpPr>
          <p:cNvPr id="200" name="Connector 199"/>
          <p:cNvCxnSpPr/>
          <p:nvPr/>
        </p:nvCxnSpPr>
        <p:spPr>
          <a:xfrm>
            <a:off x="8728936" y="2222875"/>
            <a:ext cx="0" cy="271803"/>
          </a:xfrm>
          <a:prstGeom prst="line">
            <a:avLst/>
          </a:prstGeom>
          <a:ln w="8493">
            <a:solidFill>
              <a:srgbClr val="8A8A8A"/>
            </a:solidFill>
            <a:prstDash val="dash"/>
            <a:tailEnd type="triangle" w="med" len="med"/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2851202" y="2222875"/>
            <a:ext cx="0" cy="1783705"/>
          </a:xfrm>
          <a:prstGeom prst="line">
            <a:avLst/>
          </a:prstGeom>
          <a:ln w="8493">
            <a:solidFill>
              <a:srgbClr val="8A8A8A"/>
            </a:solidFill>
            <a:prstDash val="dash"/>
            <a:tailEnd type="triangle" w="med" len="med"/>
          </a:ln>
          <a:effectLst/>
        </p:spPr>
      </p:cxnSp>
      <p:cxnSp>
        <p:nvCxnSpPr>
          <p:cNvPr id="202" name="Connector 201"/>
          <p:cNvCxnSpPr/>
          <p:nvPr/>
        </p:nvCxnSpPr>
        <p:spPr>
          <a:xfrm>
            <a:off x="10937333" y="2222875"/>
            <a:ext cx="0" cy="1902619"/>
          </a:xfrm>
          <a:prstGeom prst="line">
            <a:avLst/>
          </a:prstGeom>
          <a:ln w="8493">
            <a:solidFill>
              <a:srgbClr val="8A8A8A"/>
            </a:solidFill>
            <a:prstDash val="dash"/>
            <a:tailEnd type="triangle" w="med" len="med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5EC4C027-DA94-C978-D71A-696F074DA6A1}"/>
              </a:ext>
            </a:extLst>
          </p:cNvPr>
          <p:cNvSpPr/>
          <p:nvPr/>
        </p:nvSpPr>
        <p:spPr>
          <a:xfrm>
            <a:off x="506904" y="1271565"/>
            <a:ext cx="11177886" cy="4348843"/>
          </a:xfrm>
          <a:prstGeom prst="rect">
            <a:avLst/>
          </a:prstGeom>
          <a:noFill/>
          <a:ln w="13590">
            <a:solidFill>
              <a:srgbClr val="1A1A1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ED36D-B51C-A3CE-9337-0EDF81A5F8CD}"/>
              </a:ext>
            </a:extLst>
          </p:cNvPr>
          <p:cNvSpPr txBox="1"/>
          <p:nvPr/>
        </p:nvSpPr>
        <p:spPr>
          <a:xfrm>
            <a:off x="591842" y="1304904"/>
            <a:ext cx="1953581" cy="15628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Winograd CNN Accelerator</a:t>
            </a:r>
          </a:p>
        </p:txBody>
      </p:sp>
      <p:sp>
        <p:nvSpPr>
          <p:cNvPr id="7" name="Rectangle 139">
            <a:extLst>
              <a:ext uri="{FF2B5EF4-FFF2-40B4-BE49-F238E27FC236}">
                <a16:creationId xmlns:a16="http://schemas.microsoft.com/office/drawing/2014/main" id="{18E82D87-6D74-CF22-C7C7-B6D6E1C747E1}"/>
              </a:ext>
            </a:extLst>
          </p:cNvPr>
          <p:cNvSpPr/>
          <p:nvPr/>
        </p:nvSpPr>
        <p:spPr>
          <a:xfrm>
            <a:off x="2514854" y="4175184"/>
            <a:ext cx="7161986" cy="997611"/>
          </a:xfrm>
          <a:prstGeom prst="rect">
            <a:avLst/>
          </a:prstGeom>
          <a:solidFill>
            <a:srgbClr val="EEF1F4"/>
          </a:solidFill>
          <a:ln w="11041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943AB8B8-4F58-558F-D806-A8A5EE722487}"/>
              </a:ext>
            </a:extLst>
          </p:cNvPr>
          <p:cNvSpPr/>
          <p:nvPr/>
        </p:nvSpPr>
        <p:spPr>
          <a:xfrm>
            <a:off x="2494461" y="2642316"/>
            <a:ext cx="1019260" cy="1019260"/>
          </a:xfrm>
          <a:prstGeom prst="rect">
            <a:avLst/>
          </a:prstGeom>
          <a:solidFill>
            <a:srgbClr val="DFE8F2"/>
          </a:solidFill>
          <a:ln w="10192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60">
            <a:extLst>
              <a:ext uri="{FF2B5EF4-FFF2-40B4-BE49-F238E27FC236}">
                <a16:creationId xmlns:a16="http://schemas.microsoft.com/office/drawing/2014/main" id="{9281B0A4-8462-6855-50B3-D1B671AD637B}"/>
              </a:ext>
            </a:extLst>
          </p:cNvPr>
          <p:cNvSpPr/>
          <p:nvPr/>
        </p:nvSpPr>
        <p:spPr>
          <a:xfrm>
            <a:off x="3926365" y="2944443"/>
            <a:ext cx="288790" cy="152889"/>
          </a:xfrm>
          <a:prstGeom prst="rect">
            <a:avLst/>
          </a:prstGeom>
          <a:solidFill>
            <a:srgbClr val="E8E8EA"/>
          </a:solidFill>
          <a:ln w="8493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61">
            <a:extLst>
              <a:ext uri="{FF2B5EF4-FFF2-40B4-BE49-F238E27FC236}">
                <a16:creationId xmlns:a16="http://schemas.microsoft.com/office/drawing/2014/main" id="{44F4071A-1CBA-EC6B-1D34-34225744670C}"/>
              </a:ext>
            </a:extLst>
          </p:cNvPr>
          <p:cNvSpPr/>
          <p:nvPr/>
        </p:nvSpPr>
        <p:spPr>
          <a:xfrm>
            <a:off x="3926365" y="3097332"/>
            <a:ext cx="288790" cy="152889"/>
          </a:xfrm>
          <a:prstGeom prst="rect">
            <a:avLst/>
          </a:prstGeom>
          <a:solidFill>
            <a:srgbClr val="E8E8EA"/>
          </a:solidFill>
          <a:ln w="8493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64">
            <a:extLst>
              <a:ext uri="{FF2B5EF4-FFF2-40B4-BE49-F238E27FC236}">
                <a16:creationId xmlns:a16="http://schemas.microsoft.com/office/drawing/2014/main" id="{0D0B255A-E0B4-1B0B-D839-170CEE85B3B1}"/>
              </a:ext>
            </a:extLst>
          </p:cNvPr>
          <p:cNvSpPr/>
          <p:nvPr/>
        </p:nvSpPr>
        <p:spPr>
          <a:xfrm>
            <a:off x="4579623" y="2608341"/>
            <a:ext cx="1494914" cy="1087210"/>
          </a:xfrm>
          <a:prstGeom prst="rect">
            <a:avLst/>
          </a:prstGeom>
          <a:solidFill>
            <a:srgbClr val="DFE8F2"/>
          </a:solidFill>
          <a:ln w="11041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102">
            <a:extLst>
              <a:ext uri="{FF2B5EF4-FFF2-40B4-BE49-F238E27FC236}">
                <a16:creationId xmlns:a16="http://schemas.microsoft.com/office/drawing/2014/main" id="{F2AC39F7-2816-1566-89B7-BF2D6978F96E}"/>
              </a:ext>
            </a:extLst>
          </p:cNvPr>
          <p:cNvSpPr/>
          <p:nvPr/>
        </p:nvSpPr>
        <p:spPr>
          <a:xfrm>
            <a:off x="7268614" y="2662202"/>
            <a:ext cx="1019260" cy="1019260"/>
          </a:xfrm>
          <a:prstGeom prst="rect">
            <a:avLst/>
          </a:prstGeom>
          <a:solidFill>
            <a:srgbClr val="DFE8F2"/>
          </a:solidFill>
          <a:ln w="10192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99">
            <a:extLst>
              <a:ext uri="{FF2B5EF4-FFF2-40B4-BE49-F238E27FC236}">
                <a16:creationId xmlns:a16="http://schemas.microsoft.com/office/drawing/2014/main" id="{256B83F6-D6A6-C3F3-F9DF-43893DE02451}"/>
              </a:ext>
            </a:extLst>
          </p:cNvPr>
          <p:cNvSpPr/>
          <p:nvPr/>
        </p:nvSpPr>
        <p:spPr>
          <a:xfrm>
            <a:off x="6579103" y="3075970"/>
            <a:ext cx="288790" cy="152889"/>
          </a:xfrm>
          <a:prstGeom prst="rect">
            <a:avLst/>
          </a:prstGeom>
          <a:solidFill>
            <a:srgbClr val="E8E8EA"/>
          </a:solidFill>
          <a:ln w="8493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21">
            <a:extLst>
              <a:ext uri="{FF2B5EF4-FFF2-40B4-BE49-F238E27FC236}">
                <a16:creationId xmlns:a16="http://schemas.microsoft.com/office/drawing/2014/main" id="{1FF916C0-BB8C-C491-1281-8D48219BAB34}"/>
              </a:ext>
            </a:extLst>
          </p:cNvPr>
          <p:cNvSpPr/>
          <p:nvPr/>
        </p:nvSpPr>
        <p:spPr>
          <a:xfrm>
            <a:off x="8491538" y="2662202"/>
            <a:ext cx="1274075" cy="1019260"/>
          </a:xfrm>
          <a:prstGeom prst="rect">
            <a:avLst/>
          </a:prstGeom>
          <a:solidFill>
            <a:srgbClr val="DFE8F2"/>
          </a:solidFill>
          <a:ln w="10192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9506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39" y="1917663"/>
            <a:ext cx="11551615" cy="3022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7943" y="2018258"/>
            <a:ext cx="2214059" cy="16942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833" b="1">
                <a:solidFill>
                  <a:srgbClr val="1A1A1A"/>
                </a:solidFill>
                <a:latin typeface="Arial"/>
              </a:rPr>
              <a:t>104 × 24-bit FF scratchpad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9907" y="2038474"/>
            <a:ext cx="2214059" cy="13861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82">
                <a:solidFill>
                  <a:srgbClr val="666666"/>
                </a:solidFill>
                <a:latin typeface="Arial"/>
              </a:rPr>
              <a:t>40 vec → Sliding-window generator (prefill, not stored)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13136" y="2244959"/>
            <a:ext cx="0" cy="1732742"/>
          </a:xfrm>
          <a:prstGeom prst="line">
            <a:avLst/>
          </a:prstGeom>
          <a:ln w="11551">
            <a:solidFill>
              <a:srgbClr val="8A8A8A"/>
            </a:solidFill>
            <a:tailEnd type="triangle" w="med" len="med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-190156" y="3039614"/>
            <a:ext cx="2214059" cy="13861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82">
                <a:solidFill>
                  <a:srgbClr val="8A8A8A"/>
                </a:solidFill>
                <a:latin typeface="Arial"/>
              </a:rPr>
              <a:t>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4169" y="2253863"/>
            <a:ext cx="2214059" cy="17712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871" b="1">
                <a:solidFill>
                  <a:srgbClr val="1A1A1A"/>
                </a:solidFill>
                <a:latin typeface="Arial"/>
              </a:rPr>
              <a:t>Conv1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4169" y="2413901"/>
            <a:ext cx="2214059" cy="13861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682">
                <a:solidFill>
                  <a:srgbClr val="666666"/>
                </a:solidFill>
                <a:latin typeface="Arial"/>
              </a:rPr>
              <a:t>prefill +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4169" y="3023971"/>
            <a:ext cx="2214059" cy="17712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871" b="1">
                <a:solidFill>
                  <a:srgbClr val="1A1A1A"/>
                </a:solidFill>
                <a:latin typeface="Arial"/>
              </a:rPr>
              <a:t>Conv2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4169" y="3184009"/>
            <a:ext cx="2214059" cy="13861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682">
                <a:solidFill>
                  <a:srgbClr val="666666"/>
                </a:solidFill>
                <a:latin typeface="Arial"/>
              </a:rPr>
              <a:t>read + overwrite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4169" y="3794079"/>
            <a:ext cx="2214059" cy="17712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871" b="1">
                <a:solidFill>
                  <a:srgbClr val="1A1A1A"/>
                </a:solidFill>
                <a:latin typeface="Arial"/>
              </a:rPr>
              <a:t>FC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4169" y="3954117"/>
            <a:ext cx="2214059" cy="13861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sz="682">
                <a:solidFill>
                  <a:srgbClr val="666666"/>
                </a:solidFill>
                <a:latin typeface="Arial"/>
              </a:rPr>
              <a:t>packed 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7943" y="2225706"/>
            <a:ext cx="7316022" cy="365801"/>
          </a:xfrm>
          <a:prstGeom prst="rect">
            <a:avLst/>
          </a:prstGeom>
          <a:solidFill>
            <a:srgbClr val="E8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3489033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3771085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4052174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4333263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4615315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4896404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5177494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5458583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5740635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6021724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6302814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584865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6865955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7147044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429096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7710185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7991275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8273327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8554416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8835505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9116594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9398646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9679736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9960825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10242877" y="2225706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3207943" y="2347961"/>
            <a:ext cx="7316023" cy="0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3207943" y="2469253"/>
            <a:ext cx="7316023" cy="0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3207943" y="2225706"/>
            <a:ext cx="7316022" cy="365801"/>
          </a:xfrm>
          <a:prstGeom prst="rect">
            <a:avLst/>
          </a:prstGeom>
          <a:noFill/>
          <a:ln w="11551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58925" y="2336409"/>
            <a:ext cx="2214059" cy="1540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57">
                <a:solidFill>
                  <a:srgbClr val="1A1A1A"/>
                </a:solidFill>
                <a:latin typeface="Arial"/>
              </a:rPr>
              <a:t>Conv1 activations (addr 0–103)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7943" y="2995814"/>
            <a:ext cx="1776060" cy="365801"/>
          </a:xfrm>
          <a:prstGeom prst="rect">
            <a:avLst/>
          </a:prstGeom>
          <a:solidFill>
            <a:srgbClr val="C7D7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984004" y="2995814"/>
            <a:ext cx="5539962" cy="365801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3489033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3771085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4052174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4333263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4615315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4896404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5177494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5458583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5740635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6021724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6302814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6584865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6865955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7147044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7429096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7710185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7991275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8273327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8554416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8835505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9116594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9398646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9679736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9960825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10242877" y="2995814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3207943" y="3118069"/>
            <a:ext cx="7316023" cy="0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3207943" y="3239360"/>
            <a:ext cx="7316023" cy="0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sp>
        <p:nvSpPr>
          <p:cNvPr id="72" name="Rectangle 71"/>
          <p:cNvSpPr/>
          <p:nvPr/>
        </p:nvSpPr>
        <p:spPr>
          <a:xfrm>
            <a:off x="3207943" y="2995814"/>
            <a:ext cx="1776060" cy="365801"/>
          </a:xfrm>
          <a:prstGeom prst="rect">
            <a:avLst/>
          </a:prstGeom>
          <a:noFill/>
          <a:ln w="11551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988463" y="3121678"/>
            <a:ext cx="2214059" cy="1309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44">
                <a:solidFill>
                  <a:srgbClr val="1A3350"/>
                </a:solidFill>
                <a:latin typeface="Arial"/>
              </a:rPr>
              <a:t>Conv2 output (packed 3ch→24b)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84004" y="2995814"/>
            <a:ext cx="5539962" cy="365801"/>
          </a:xfrm>
          <a:prstGeom prst="rect">
            <a:avLst/>
          </a:prstGeom>
          <a:noFill/>
          <a:ln w="11551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646474" y="3106517"/>
            <a:ext cx="2214059" cy="1540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57">
                <a:solidFill>
                  <a:srgbClr val="666666"/>
                </a:solidFill>
                <a:latin typeface="Arial"/>
              </a:rPr>
              <a:t>consumed (freed)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7943" y="3765922"/>
            <a:ext cx="1776060" cy="365801"/>
          </a:xfrm>
          <a:prstGeom prst="rect">
            <a:avLst/>
          </a:prstGeom>
          <a:solidFill>
            <a:srgbClr val="C7D7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984004" y="3765922"/>
            <a:ext cx="5539962" cy="365801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3489033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3771085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4052174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4333263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4615315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4896404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5177494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5458583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5740635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6021724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6302814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6584865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6865955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7147044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7429096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7710185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7991275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8273327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8554416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8835505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9116594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9398646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9679736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9960825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>
            <a:off x="10242877" y="3765922"/>
            <a:ext cx="0" cy="365801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3207943" y="3888176"/>
            <a:ext cx="7316023" cy="0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>
            <a:off x="3207943" y="4009468"/>
            <a:ext cx="7316023" cy="0"/>
          </a:xfrm>
          <a:prstGeom prst="line">
            <a:avLst/>
          </a:prstGeom>
          <a:ln w="4813">
            <a:solidFill>
              <a:srgbClr val="B7BCC2"/>
            </a:solidFill>
          </a:ln>
          <a:effectLst/>
        </p:spPr>
      </p:cxnSp>
      <p:sp>
        <p:nvSpPr>
          <p:cNvPr id="105" name="Rectangle 104"/>
          <p:cNvSpPr/>
          <p:nvPr/>
        </p:nvSpPr>
        <p:spPr>
          <a:xfrm>
            <a:off x="3207943" y="3765922"/>
            <a:ext cx="1776060" cy="365801"/>
          </a:xfrm>
          <a:prstGeom prst="rect">
            <a:avLst/>
          </a:prstGeom>
          <a:noFill/>
          <a:ln w="11551">
            <a:solidFill>
              <a:srgbClr val="4A6A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988463" y="3891786"/>
            <a:ext cx="2214059" cy="1309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44">
                <a:solidFill>
                  <a:srgbClr val="1A3350"/>
                </a:solidFill>
                <a:latin typeface="Arial"/>
              </a:rPr>
              <a:t>packed Conv2 features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84004" y="3765922"/>
            <a:ext cx="5539962" cy="365801"/>
          </a:xfrm>
          <a:prstGeom prst="rect">
            <a:avLst/>
          </a:prstGeom>
          <a:noFill/>
          <a:ln w="11551">
            <a:solidFill>
              <a:srgbClr val="7A7A7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646474" y="3876625"/>
            <a:ext cx="2214059" cy="15402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757">
                <a:solidFill>
                  <a:srgbClr val="666666"/>
                </a:solidFill>
                <a:latin typeface="Arial"/>
              </a:rPr>
              <a:t>free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6480901" y="2938056"/>
            <a:ext cx="3889044" cy="0"/>
          </a:xfrm>
          <a:prstGeom prst="line">
            <a:avLst/>
          </a:prstGeom>
          <a:ln w="10588">
            <a:solidFill>
              <a:srgbClr val="1A1A1A"/>
            </a:solidFill>
            <a:tailEnd type="triangle" w="med" len="med"/>
          </a:ln>
          <a:effectLst/>
        </p:spPr>
      </p:cxnSp>
      <p:sp>
        <p:nvSpPr>
          <p:cNvPr id="110" name="TextBox 109"/>
          <p:cNvSpPr txBox="1"/>
          <p:nvPr/>
        </p:nvSpPr>
        <p:spPr>
          <a:xfrm>
            <a:off x="7318393" y="2798955"/>
            <a:ext cx="2214059" cy="13861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82">
                <a:solidFill>
                  <a:srgbClr val="1A1A1A"/>
                </a:solidFill>
                <a:latin typeface="Arial"/>
              </a:rPr>
              <a:t>sequential read →</a:t>
            </a:r>
          </a:p>
        </p:txBody>
      </p:sp>
      <p:cxnSp>
        <p:nvCxnSpPr>
          <p:cNvPr id="111" name="Connector 110"/>
          <p:cNvCxnSpPr/>
          <p:nvPr/>
        </p:nvCxnSpPr>
        <p:spPr>
          <a:xfrm flipH="1">
            <a:off x="5036949" y="2938056"/>
            <a:ext cx="1443952" cy="0"/>
          </a:xfrm>
          <a:prstGeom prst="line">
            <a:avLst/>
          </a:prstGeom>
          <a:ln w="11551">
            <a:solidFill>
              <a:srgbClr val="3B6EA5"/>
            </a:solidFill>
            <a:tailEnd type="triangle" w="med" len="med"/>
          </a:ln>
          <a:effectLst/>
        </p:spPr>
      </p:cxnSp>
      <p:sp>
        <p:nvSpPr>
          <p:cNvPr id="112" name="TextBox 111"/>
          <p:cNvSpPr txBox="1"/>
          <p:nvPr/>
        </p:nvSpPr>
        <p:spPr>
          <a:xfrm>
            <a:off x="4651895" y="2798955"/>
            <a:ext cx="2214059" cy="13861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82">
                <a:solidFill>
                  <a:srgbClr val="3B6EA5"/>
                </a:solidFill>
                <a:latin typeface="Arial"/>
              </a:rPr>
              <a:t>overwrite ←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284954" y="3708164"/>
            <a:ext cx="1655732" cy="0"/>
          </a:xfrm>
          <a:prstGeom prst="line">
            <a:avLst/>
          </a:prstGeom>
          <a:ln w="11551">
            <a:solidFill>
              <a:srgbClr val="3B6EA5"/>
            </a:solidFill>
            <a:tailEnd type="triangle" w="med" len="med"/>
          </a:ln>
          <a:effectLst/>
        </p:spPr>
      </p:cxnSp>
      <p:sp>
        <p:nvSpPr>
          <p:cNvPr id="114" name="TextBox 113"/>
          <p:cNvSpPr txBox="1"/>
          <p:nvPr/>
        </p:nvSpPr>
        <p:spPr>
          <a:xfrm>
            <a:off x="2986537" y="3569063"/>
            <a:ext cx="2214059" cy="13861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82">
                <a:solidFill>
                  <a:srgbClr val="3B6EA5"/>
                </a:solidFill>
                <a:latin typeface="Arial"/>
              </a:rPr>
              <a:t>packed read →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3207943" y="4131723"/>
            <a:ext cx="0" cy="96263"/>
          </a:xfrm>
          <a:prstGeom prst="line">
            <a:avLst/>
          </a:prstGeom>
          <a:ln w="9626">
            <a:solidFill>
              <a:srgbClr val="8A8A8A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4984004" y="4131723"/>
            <a:ext cx="0" cy="96263"/>
          </a:xfrm>
          <a:prstGeom prst="line">
            <a:avLst/>
          </a:prstGeom>
          <a:ln w="9626">
            <a:solidFill>
              <a:srgbClr val="8A8A8A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10523966" y="4131723"/>
            <a:ext cx="0" cy="96263"/>
          </a:xfrm>
          <a:prstGeom prst="line">
            <a:avLst/>
          </a:prstGeom>
          <a:ln w="9626">
            <a:solidFill>
              <a:srgbClr val="8A8A8A"/>
            </a:solidFill>
          </a:ln>
          <a:effectLst/>
        </p:spPr>
      </p:cxnSp>
      <p:sp>
        <p:nvSpPr>
          <p:cNvPr id="118" name="TextBox 117"/>
          <p:cNvSpPr txBox="1"/>
          <p:nvPr/>
        </p:nvSpPr>
        <p:spPr>
          <a:xfrm>
            <a:off x="2100914" y="4257587"/>
            <a:ext cx="2214059" cy="1309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44">
                <a:solidFill>
                  <a:srgbClr val="666666"/>
                </a:solidFill>
                <a:latin typeface="Arial"/>
              </a:rPr>
              <a:t>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872161" y="4257587"/>
            <a:ext cx="2214059" cy="1309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44">
                <a:solidFill>
                  <a:srgbClr val="666666"/>
                </a:solidFill>
                <a:latin typeface="Arial"/>
              </a:rPr>
              <a:t>25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416936" y="4257587"/>
            <a:ext cx="2214059" cy="1309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44">
                <a:solidFill>
                  <a:srgbClr val="666666"/>
                </a:solidFill>
                <a:latin typeface="Arial"/>
              </a:rPr>
              <a:t>103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86537" y="4257587"/>
            <a:ext cx="2214059" cy="1309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44">
                <a:solidFill>
                  <a:srgbClr val="3B6EA5"/>
                </a:solidFill>
                <a:latin typeface="Arial"/>
              </a:rPr>
              <a:t>addr 0–24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44549" y="4257587"/>
            <a:ext cx="2214059" cy="1309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644">
                <a:solidFill>
                  <a:srgbClr val="666666"/>
                </a:solidFill>
                <a:latin typeface="Arial"/>
              </a:rPr>
              <a:t>addr 25–103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24156" y="4621463"/>
            <a:ext cx="2214059" cy="19252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sz="947">
                <a:solidFill>
                  <a:srgbClr val="1A1A1A"/>
                </a:solidFill>
                <a:latin typeface="Arial"/>
              </a:rPr>
              <a:t>(b) Lifetime-aware activation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584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214</Words>
  <Application>Microsoft Office PowerPoint</Application>
  <PresentationFormat>와이드스크린</PresentationFormat>
  <Paragraphs>82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박준범</cp:lastModifiedBy>
  <cp:revision>3</cp:revision>
  <dcterms:created xsi:type="dcterms:W3CDTF">2013-01-27T09:14:16Z</dcterms:created>
  <dcterms:modified xsi:type="dcterms:W3CDTF">2026-08-28T05:25:06Z</dcterms:modified>
  <cp:category/>
</cp:coreProperties>
</file>