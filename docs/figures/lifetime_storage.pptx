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42110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8266" y="109728"/>
            <a:ext cx="8667466" cy="39915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3212" y="930856"/>
            <a:ext cx="0" cy="2554622"/>
          </a:xfrm>
          <a:prstGeom prst="line">
            <a:avLst/>
          </a:prstGeom>
          <a:ln w="11404">
            <a:solidFill>
              <a:srgbClr val="8A8A8A"/>
            </a:solidFill>
            <a:tailEnd type="triangle" w="med" len="med"/>
          </a:ln>
          <a:effectLst/>
        </p:spPr>
      </p:cxnSp>
      <p:sp>
        <p:nvSpPr>
          <p:cNvPr id="4" name="TextBox 3"/>
          <p:cNvSpPr txBox="1"/>
          <p:nvPr/>
        </p:nvSpPr>
        <p:spPr>
          <a:xfrm rot="16200000">
            <a:off x="-879380" y="2125769"/>
            <a:ext cx="2737094" cy="1647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63">
                <a:solidFill>
                  <a:srgbClr val="8A8A8A"/>
                </a:solidFill>
                <a:latin typeface="Arial"/>
              </a:rPr>
              <a:t>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7" y="1038629"/>
            <a:ext cx="2623049" cy="20072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987" b="1">
                <a:solidFill>
                  <a:srgbClr val="1A1A1A"/>
                </a:solidFill>
                <a:latin typeface="Arial"/>
              </a:rPr>
              <a:t>Conv1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7" y="2133467"/>
            <a:ext cx="2623049" cy="20072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987" b="1">
                <a:solidFill>
                  <a:srgbClr val="1A1A1A"/>
                </a:solidFill>
                <a:latin typeface="Arial"/>
              </a:rPr>
              <a:t>Conv2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7" y="3182687"/>
            <a:ext cx="2623049" cy="20072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987" b="1">
                <a:solidFill>
                  <a:srgbClr val="1A1A1A"/>
                </a:solidFill>
                <a:latin typeface="Arial"/>
              </a:rPr>
              <a:t>FC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48950" y="623788"/>
            <a:ext cx="2623049" cy="15510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63">
                <a:solidFill>
                  <a:srgbClr val="333333"/>
                </a:solidFill>
                <a:latin typeface="Arial"/>
              </a:rPr>
              <a:t>to sliding-window generator (40-vector prefill)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606813" y="816810"/>
            <a:ext cx="342137" cy="0"/>
          </a:xfrm>
          <a:prstGeom prst="line">
            <a:avLst/>
          </a:prstGeom>
          <a:ln w="11404">
            <a:solidFill>
              <a:srgbClr val="1A1A1A"/>
            </a:solidFill>
            <a:tailEnd type="triangle" w="med" len="med"/>
          </a:ln>
          <a:effectLst/>
        </p:spPr>
      </p:cxnSp>
      <p:sp>
        <p:nvSpPr>
          <p:cNvPr id="10" name="Rectangle 9"/>
          <p:cNvSpPr/>
          <p:nvPr/>
        </p:nvSpPr>
        <p:spPr>
          <a:xfrm>
            <a:off x="1948950" y="908047"/>
            <a:ext cx="6158463" cy="433373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2245013" y="908047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2541075" y="908047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2837138" y="908047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3133314" y="908047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3725439" y="908047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4021501" y="908047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4317564" y="908047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4613626" y="908047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4909803" y="908047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5205865" y="908047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5501927" y="908047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5797990" y="908047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6094052" y="908047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6390115" y="908047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6686177" y="908047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6982354" y="908047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7278416" y="908047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7574478" y="908047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7870541" y="908047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sp>
        <p:nvSpPr>
          <p:cNvPr id="30" name="Rectangle 29"/>
          <p:cNvSpPr/>
          <p:nvPr/>
        </p:nvSpPr>
        <p:spPr>
          <a:xfrm>
            <a:off x="1948950" y="908047"/>
            <a:ext cx="6158463" cy="433373"/>
          </a:xfrm>
          <a:prstGeom prst="rect">
            <a:avLst/>
          </a:prstGeom>
          <a:noFill/>
          <a:ln w="11404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16657" y="1062579"/>
            <a:ext cx="2623049" cy="1642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808">
                <a:solidFill>
                  <a:srgbClr val="1A1A1A"/>
                </a:solidFill>
                <a:latin typeface="Arial"/>
              </a:rPr>
              <a:t>Stored Conv1 features (104 × 24-bit)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8950" y="1604580"/>
            <a:ext cx="2623049" cy="15510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63">
                <a:solidFill>
                  <a:srgbClr val="1A1A1A"/>
                </a:solidFill>
                <a:latin typeface="Arial"/>
              </a:rPr>
              <a:t>read: addr 0 → 103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948950" y="1786198"/>
            <a:ext cx="6112845" cy="0"/>
          </a:xfrm>
          <a:prstGeom prst="line">
            <a:avLst/>
          </a:prstGeom>
          <a:ln w="11404">
            <a:solidFill>
              <a:srgbClr val="1A1A1A"/>
            </a:solidFill>
            <a:tailEnd type="triangle" w="med" len="med"/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1948950" y="1923053"/>
            <a:ext cx="1436975" cy="0"/>
          </a:xfrm>
          <a:prstGeom prst="line">
            <a:avLst/>
          </a:prstGeom>
          <a:ln w="12545">
            <a:solidFill>
              <a:srgbClr val="2F5F88"/>
            </a:solidFill>
            <a:tailEnd type="triangle" w="med" len="med"/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3522780" y="1855481"/>
            <a:ext cx="2623049" cy="15510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63">
                <a:solidFill>
                  <a:srgbClr val="2F5F88"/>
                </a:solidFill>
                <a:latin typeface="Arial"/>
              </a:rPr>
              <a:t>overwrite: addr 0 → 24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8950" y="2002885"/>
            <a:ext cx="1482593" cy="433373"/>
          </a:xfrm>
          <a:prstGeom prst="rect">
            <a:avLst/>
          </a:prstGeom>
          <a:solidFill>
            <a:srgbClr val="D6E3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31543" y="2002885"/>
            <a:ext cx="4675870" cy="433373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2245013" y="2002885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2541075" y="2002885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2837138" y="2002885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3133314" y="2002885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>
            <a:off x="3725439" y="2002885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4021501" y="2002885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>
            <a:off x="4317564" y="2002885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4613626" y="2002885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>
            <a:off x="4909803" y="2002885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5205865" y="2002885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>
            <a:off x="5501927" y="2002885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5797990" y="2002885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>
            <a:off x="6094052" y="2002885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6390115" y="2002885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>
            <a:off x="6686177" y="2002885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6982354" y="2002885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>
            <a:off x="7278416" y="2002885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7574478" y="2002885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>
            <a:off x="7870541" y="2002885"/>
            <a:ext cx="0" cy="433373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>
            <a:off x="3431543" y="2002885"/>
            <a:ext cx="0" cy="433373"/>
          </a:xfrm>
          <a:prstGeom prst="line">
            <a:avLst/>
          </a:prstGeom>
          <a:ln w="9123">
            <a:solidFill>
              <a:srgbClr val="777777"/>
            </a:solidFill>
          </a:ln>
          <a:effectLst/>
        </p:spPr>
      </p:cxnSp>
      <p:sp>
        <p:nvSpPr>
          <p:cNvPr id="58" name="Rectangle 57"/>
          <p:cNvSpPr/>
          <p:nvPr/>
        </p:nvSpPr>
        <p:spPr>
          <a:xfrm>
            <a:off x="1948950" y="2002885"/>
            <a:ext cx="6158463" cy="433373"/>
          </a:xfrm>
          <a:prstGeom prst="rect">
            <a:avLst/>
          </a:prstGeom>
          <a:noFill/>
          <a:ln w="11404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78722" y="2163404"/>
            <a:ext cx="2623049" cy="15510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763">
                <a:solidFill>
                  <a:srgbClr val="1A3350"/>
                </a:solidFill>
                <a:latin typeface="Arial"/>
              </a:rPr>
              <a:t>Conv2 features (25 × 24-bit)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57954" y="2157417"/>
            <a:ext cx="2623049" cy="1642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808">
                <a:solidFill>
                  <a:srgbClr val="666666"/>
                </a:solidFill>
                <a:latin typeface="Arial"/>
              </a:rPr>
              <a:t>consumed / free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48950" y="2676609"/>
            <a:ext cx="2623049" cy="15510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63">
                <a:solidFill>
                  <a:srgbClr val="1A1A1A"/>
                </a:solidFill>
                <a:latin typeface="Arial"/>
              </a:rPr>
              <a:t>FC read: 3 channel passes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948950" y="2926654"/>
            <a:ext cx="1436975" cy="0"/>
          </a:xfrm>
          <a:prstGeom prst="line">
            <a:avLst/>
          </a:prstGeom>
          <a:ln w="11404">
            <a:solidFill>
              <a:srgbClr val="1A1A1A"/>
            </a:solidFill>
            <a:tailEnd type="triangle" w="med" len="med"/>
          </a:ln>
          <a:effectLst/>
        </p:spPr>
      </p:cxnSp>
      <p:sp>
        <p:nvSpPr>
          <p:cNvPr id="63" name="Rectangle 62"/>
          <p:cNvSpPr/>
          <p:nvPr/>
        </p:nvSpPr>
        <p:spPr>
          <a:xfrm>
            <a:off x="1948950" y="3052104"/>
            <a:ext cx="1482593" cy="433373"/>
          </a:xfrm>
          <a:prstGeom prst="rect">
            <a:avLst/>
          </a:prstGeom>
          <a:solidFill>
            <a:srgbClr val="D6E3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431543" y="3052104"/>
            <a:ext cx="4675870" cy="433373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2245013" y="3052104"/>
            <a:ext cx="0" cy="433374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>
            <a:off x="2541075" y="3052104"/>
            <a:ext cx="0" cy="433374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>
            <a:off x="2837138" y="3052104"/>
            <a:ext cx="0" cy="433374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>
            <a:off x="3133314" y="3052104"/>
            <a:ext cx="0" cy="433374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>
            <a:off x="3725439" y="3052104"/>
            <a:ext cx="0" cy="433374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>
            <a:off x="4021501" y="3052104"/>
            <a:ext cx="0" cy="433374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4317564" y="3052104"/>
            <a:ext cx="0" cy="433374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>
            <a:off x="4613626" y="3052104"/>
            <a:ext cx="0" cy="433374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4909803" y="3052104"/>
            <a:ext cx="0" cy="433374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5205865" y="3052104"/>
            <a:ext cx="0" cy="433374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>
            <a:off x="5501927" y="3052104"/>
            <a:ext cx="0" cy="433374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>
            <a:off x="5797990" y="3052104"/>
            <a:ext cx="0" cy="433374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>
            <a:off x="6094052" y="3052104"/>
            <a:ext cx="0" cy="433374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>
            <a:off x="6390115" y="3052104"/>
            <a:ext cx="0" cy="433374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>
            <a:off x="6686177" y="3052104"/>
            <a:ext cx="0" cy="433374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>
            <a:off x="6982354" y="3052104"/>
            <a:ext cx="0" cy="433374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>
            <a:off x="7278416" y="3052104"/>
            <a:ext cx="0" cy="433374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>
            <a:off x="7574478" y="3052104"/>
            <a:ext cx="0" cy="433374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7870541" y="3052104"/>
            <a:ext cx="0" cy="433374"/>
          </a:xfrm>
          <a:prstGeom prst="line">
            <a:avLst/>
          </a:prstGeom>
          <a:ln w="5132">
            <a:solidFill>
              <a:srgbClr val="C2C8CE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>
            <a:off x="3431543" y="3052104"/>
            <a:ext cx="0" cy="433374"/>
          </a:xfrm>
          <a:prstGeom prst="line">
            <a:avLst/>
          </a:prstGeom>
          <a:ln w="9123">
            <a:solidFill>
              <a:srgbClr val="777777"/>
            </a:solidFill>
          </a:ln>
          <a:effectLst/>
        </p:spPr>
      </p:cxnSp>
      <p:sp>
        <p:nvSpPr>
          <p:cNvPr id="85" name="Rectangle 84"/>
          <p:cNvSpPr/>
          <p:nvPr/>
        </p:nvSpPr>
        <p:spPr>
          <a:xfrm>
            <a:off x="1948950" y="3052104"/>
            <a:ext cx="6158463" cy="433373"/>
          </a:xfrm>
          <a:prstGeom prst="rect">
            <a:avLst/>
          </a:prstGeom>
          <a:noFill/>
          <a:ln w="11404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378722" y="3212624"/>
            <a:ext cx="2623049" cy="15510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763">
                <a:solidFill>
                  <a:srgbClr val="1A3350"/>
                </a:solidFill>
                <a:latin typeface="Arial"/>
              </a:rPr>
              <a:t>FC input (25 × 24-bit)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57954" y="3206636"/>
            <a:ext cx="2623049" cy="1642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808">
                <a:solidFill>
                  <a:srgbClr val="999999"/>
                </a:solidFill>
                <a:latin typeface="Arial"/>
              </a:rPr>
              <a:t>free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8175841" y="908047"/>
            <a:ext cx="79832" cy="0"/>
          </a:xfrm>
          <a:prstGeom prst="line">
            <a:avLst/>
          </a:prstGeom>
          <a:ln w="11404">
            <a:solidFill>
              <a:srgbClr val="555555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>
            <a:off x="8255673" y="908047"/>
            <a:ext cx="0" cy="2577431"/>
          </a:xfrm>
          <a:prstGeom prst="line">
            <a:avLst/>
          </a:prstGeom>
          <a:ln w="11404">
            <a:solidFill>
              <a:srgbClr val="555555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 flipH="1">
            <a:off x="8175841" y="3485478"/>
            <a:ext cx="79832" cy="0"/>
          </a:xfrm>
          <a:prstGeom prst="line">
            <a:avLst/>
          </a:prstGeom>
          <a:ln w="11404">
            <a:solidFill>
              <a:srgbClr val="555555"/>
            </a:solidFill>
          </a:ln>
          <a:effectLst/>
        </p:spPr>
      </p:cxnSp>
      <p:sp>
        <p:nvSpPr>
          <p:cNvPr id="91" name="TextBox 90"/>
          <p:cNvSpPr txBox="1"/>
          <p:nvPr/>
        </p:nvSpPr>
        <p:spPr>
          <a:xfrm rot="16200000">
            <a:off x="7046789" y="2104670"/>
            <a:ext cx="2737094" cy="1841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3">
                <a:solidFill>
                  <a:srgbClr val="1A1A1A"/>
                </a:solidFill>
                <a:latin typeface="Arial"/>
              </a:rPr>
              <a:t>Same physical 104 × 24-bit FF scratchpad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948950" y="3508287"/>
            <a:ext cx="0" cy="102641"/>
          </a:xfrm>
          <a:prstGeom prst="line">
            <a:avLst/>
          </a:prstGeom>
          <a:ln w="11404">
            <a:solidFill>
              <a:srgbClr val="888888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>
            <a:off x="3431543" y="3508287"/>
            <a:ext cx="0" cy="102641"/>
          </a:xfrm>
          <a:prstGeom prst="line">
            <a:avLst/>
          </a:prstGeom>
          <a:ln w="11404">
            <a:solidFill>
              <a:srgbClr val="888888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>
            <a:off x="8107414" y="3508287"/>
            <a:ext cx="0" cy="102641"/>
          </a:xfrm>
          <a:prstGeom prst="line">
            <a:avLst/>
          </a:prstGeom>
          <a:ln w="11404">
            <a:solidFill>
              <a:srgbClr val="888888"/>
            </a:solidFill>
          </a:ln>
          <a:effectLst/>
        </p:spPr>
      </p:cxnSp>
      <p:sp>
        <p:nvSpPr>
          <p:cNvPr id="95" name="TextBox 94"/>
          <p:cNvSpPr txBox="1"/>
          <p:nvPr/>
        </p:nvSpPr>
        <p:spPr>
          <a:xfrm>
            <a:off x="637426" y="3640580"/>
            <a:ext cx="2623049" cy="14597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718">
                <a:solidFill>
                  <a:srgbClr val="666666"/>
                </a:solidFill>
                <a:latin typeface="Arial"/>
              </a:rP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62876" y="3640580"/>
            <a:ext cx="2623049" cy="14597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/>
            <a:r>
              <a:rPr sz="718">
                <a:solidFill>
                  <a:srgbClr val="666666"/>
                </a:solidFill>
                <a:latin typeface="Arial"/>
              </a:rPr>
              <a:t>24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477162" y="3640580"/>
            <a:ext cx="2623049" cy="14597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18">
                <a:solidFill>
                  <a:srgbClr val="666666"/>
                </a:solidFill>
                <a:latin typeface="Arial"/>
              </a:rPr>
              <a:t>25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795889" y="3640580"/>
            <a:ext cx="2623049" cy="14597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718">
                <a:solidFill>
                  <a:srgbClr val="666666"/>
                </a:solidFill>
                <a:latin typeface="Arial"/>
              </a:rPr>
              <a:t>103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716657" y="3855556"/>
            <a:ext cx="2623049" cy="20072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987">
                <a:solidFill>
                  <a:srgbClr val="1A1A1A"/>
                </a:solidFill>
                <a:latin typeface="Arial"/>
              </a:rPr>
              <a:t>(b) Lifetime-aware activation storage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